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9C28C0-D596-1557-631C-B59798083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504B2E8-7186-8FDF-6E30-A4A067F9E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ECA9BB-3BDF-18BF-8EF7-D46EE421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5FFE-A595-44C7-A03C-9D24AF501CBB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690E51-F07A-F686-48EF-17E0C0DA4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86F4B1-89CC-723F-9D8B-42B8585DF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A714-BAD4-4774-8A34-631FA54D53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292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0E803F-E2C3-F671-1809-8B0128AA4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6CC5A8-6D4F-881D-9E20-3DAB30A72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3B6C1F-A85E-9A22-3AC2-74A40E174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5FFE-A595-44C7-A03C-9D24AF501CBB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56633-D3DA-1924-0966-08A0F8DD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060DBD-9052-92E2-EF34-4DE2453F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A714-BAD4-4774-8A34-631FA54D53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954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65A230-F6A5-437C-22EB-04A020E05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082439-A6B3-A067-D831-DC6CA0CB7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1D1D94-DF25-6ABB-5DFB-6C2FC041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5FFE-A595-44C7-A03C-9D24AF501CBB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BB8CFE-3FB5-6067-D566-433743C00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969D90-7BB8-072E-8D56-6794DD2BA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A714-BAD4-4774-8A34-631FA54D53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25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8EC0A2-2D0B-1D22-108D-C29A7A8C9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642D3B-8053-819D-B8EB-DEFD45BF5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95D649-FA27-B212-CCAF-B98B9CACB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2FCD33-F9AC-A8E1-C570-5682ECAE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5FFE-A595-44C7-A03C-9D24AF501CBB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036BD1-826D-4E9B-51B4-A37B55F3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458547-F278-6FAE-39A3-721BA73D7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A714-BAD4-4774-8A34-631FA54D53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797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1A536C-5829-03CD-8E8C-01C789515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15F074-8FBC-53F4-92DF-02EFFC687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C8FDD5-7933-C472-3A47-26D66A890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956BBDD-BF64-28F1-4C15-70FCDFA69F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4415A77-7961-81B1-2A31-7C62F448B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FD45E7F-750C-1417-541A-1F23E1C8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5FFE-A595-44C7-A03C-9D24AF501CBB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5E8DE6F-1B53-C680-CDB0-CA71CEFA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3E37D27-7ED0-8464-B2F6-E386AB815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A714-BAD4-4774-8A34-631FA54D53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3741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F1697E-A706-63FA-892E-4289A0619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C79E3DF-09EE-BF68-3E80-4362E3308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5FFE-A595-44C7-A03C-9D24AF501CBB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6C719A-89AA-3113-AFF3-6548FAE4F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D36294-15D3-B076-057E-A76FF6E7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A714-BAD4-4774-8A34-631FA54D53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148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BBBD713-9E30-D34C-C105-FF9C45EF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5FFE-A595-44C7-A03C-9D24AF501CBB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7A07D34-7C25-844A-B556-D6568E5A4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1F843FC-B893-1BA2-87F5-A4B1A36F8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A714-BAD4-4774-8A34-631FA54D53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186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FF2C5C-4FED-1E2C-7D3D-1571D1F8B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4FD2EF-54F6-B537-FF34-7E038D566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9F22B9-B3C4-34A1-26EF-5D6E8DF11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92B2C3C-354C-BE8B-7763-96D2FEEB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5FFE-A595-44C7-A03C-9D24AF501CBB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1471AC-91F0-E657-B8BC-AD57627E3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A337FF-10A5-EF69-54A1-A61E203C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A714-BAD4-4774-8A34-631FA54D53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96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216660-963E-1977-877B-38E54B092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A2ED517-8643-2E49-934D-081B1E933C4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CB87791-C1D9-E1AB-BAB9-ED845575A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709C8F-C87B-A0DD-E820-228A01404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5FFE-A595-44C7-A03C-9D24AF501CBB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698F62-AE07-9070-6DDB-F51D4EFD4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C99163-D63C-3E40-B787-4F9372FC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A714-BAD4-4774-8A34-631FA54D53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098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B421E8-9B17-2CC1-E04A-922A058E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C566B77-DAEB-8A8B-069A-18C167D87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EA3A18-57F3-5FA0-A33E-7B16B4377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5FFE-A595-44C7-A03C-9D24AF501CBB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ECF1B6-6088-9120-CB3E-1EEABF605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DF5801-0DBB-54A3-9A8B-C7A79406D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A714-BAD4-4774-8A34-631FA54D53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6527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C8150D3-CE05-E817-9FD8-4604BAD448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ACB6E38-B94C-4537-736D-915BE4A2C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AF3035-3C75-AADD-530C-0899B9EF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5FFE-A595-44C7-A03C-9D24AF501CBB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B51535-300B-4FBB-7C62-32917DFE5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E3EB12-24B5-3830-F286-684B7BB8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A714-BAD4-4774-8A34-631FA54D53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944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73C6AC7-B0C2-0864-D328-36C6DE2C4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A75B5A-E715-C151-A127-250CFE82B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A93904-20AD-F5E8-D09A-87127BC08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5FFE-A595-44C7-A03C-9D24AF501CBB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F3BEDF-E922-0596-3A27-3974B519BA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5FB27D-B2D0-6D47-8609-2C2378C94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4A714-BAD4-4774-8A34-631FA54D53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6818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0B0BC30A-EBD7-A422-D61F-E87BECCB0991}"/>
              </a:ext>
            </a:extLst>
          </p:cNvPr>
          <p:cNvSpPr/>
          <p:nvPr/>
        </p:nvSpPr>
        <p:spPr>
          <a:xfrm>
            <a:off x="717756" y="527256"/>
            <a:ext cx="2290916" cy="521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download_data.py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4104CEB9-D245-72FD-323E-BDF96C5C3D17}"/>
              </a:ext>
            </a:extLst>
          </p:cNvPr>
          <p:cNvSpPr/>
          <p:nvPr/>
        </p:nvSpPr>
        <p:spPr>
          <a:xfrm>
            <a:off x="389604" y="2590193"/>
            <a:ext cx="1339645" cy="521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train.py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A2D4EF9E-3116-8BE0-8249-EE675415F724}"/>
              </a:ext>
            </a:extLst>
          </p:cNvPr>
          <p:cNvSpPr/>
          <p:nvPr/>
        </p:nvSpPr>
        <p:spPr>
          <a:xfrm>
            <a:off x="389604" y="4092720"/>
            <a:ext cx="2740743" cy="521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local_example_request.py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E3D5D6BF-CC22-6E33-3DFA-749D36EDB042}"/>
              </a:ext>
            </a:extLst>
          </p:cNvPr>
          <p:cNvSpPr/>
          <p:nvPr/>
        </p:nvSpPr>
        <p:spPr>
          <a:xfrm>
            <a:off x="717756" y="1582995"/>
            <a:ext cx="2290916" cy="52111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First </a:t>
            </a:r>
            <a:r>
              <a:rPr lang="de-DE" dirty="0" err="1"/>
              <a:t>execution</a:t>
            </a:r>
            <a:r>
              <a:rPr lang="de-DE" dirty="0"/>
              <a:t>?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421D0B76-C489-F297-DEED-CB3BE0071222}"/>
              </a:ext>
            </a:extLst>
          </p:cNvPr>
          <p:cNvSpPr/>
          <p:nvPr/>
        </p:nvSpPr>
        <p:spPr>
          <a:xfrm>
            <a:off x="717756" y="2025450"/>
            <a:ext cx="683342" cy="33921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YES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75F7CFD-C142-BAE9-2A58-5EAF427458A3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1863214" y="1048366"/>
            <a:ext cx="0" cy="5346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E13438F6-E5C9-44B1-D89A-B1B7497C98F3}"/>
              </a:ext>
            </a:extLst>
          </p:cNvPr>
          <p:cNvCxnSpPr>
            <a:cxnSpLocks/>
            <a:stCxn id="14" idx="2"/>
            <a:endCxn id="6" idx="0"/>
          </p:cNvCxnSpPr>
          <p:nvPr/>
        </p:nvCxnSpPr>
        <p:spPr>
          <a:xfrm>
            <a:off x="1059427" y="2364660"/>
            <a:ext cx="0" cy="2255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80248193-3A95-D99D-7B11-DF1539D32042}"/>
              </a:ext>
            </a:extLst>
          </p:cNvPr>
          <p:cNvCxnSpPr>
            <a:cxnSpLocks/>
            <a:stCxn id="53" idx="2"/>
            <a:endCxn id="8" idx="0"/>
          </p:cNvCxnSpPr>
          <p:nvPr/>
        </p:nvCxnSpPr>
        <p:spPr>
          <a:xfrm flipH="1">
            <a:off x="1759976" y="2371419"/>
            <a:ext cx="926689" cy="17213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DA103B5B-907E-598E-4897-370680E80863}"/>
              </a:ext>
            </a:extLst>
          </p:cNvPr>
          <p:cNvSpPr/>
          <p:nvPr/>
        </p:nvSpPr>
        <p:spPr>
          <a:xfrm>
            <a:off x="6366388" y="391765"/>
            <a:ext cx="2043881" cy="521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Start </a:t>
            </a:r>
            <a:r>
              <a:rPr lang="de-DE" dirty="0" err="1"/>
              <a:t>mlflow</a:t>
            </a:r>
            <a:r>
              <a:rPr lang="de-DE" dirty="0"/>
              <a:t> </a:t>
            </a:r>
            <a:r>
              <a:rPr lang="de-DE" dirty="0" err="1"/>
              <a:t>server</a:t>
            </a:r>
            <a:endParaRPr lang="de-DE" dirty="0"/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74678DBA-9178-DA11-F971-CF0C7209AE90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1059427" y="3111303"/>
            <a:ext cx="700549" cy="9814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E0B8AA3A-645A-899B-8B5B-3C065248E0F4}"/>
              </a:ext>
            </a:extLst>
          </p:cNvPr>
          <p:cNvSpPr/>
          <p:nvPr/>
        </p:nvSpPr>
        <p:spPr>
          <a:xfrm>
            <a:off x="2344994" y="2032209"/>
            <a:ext cx="683342" cy="33921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NO</a:t>
            </a:r>
          </a:p>
        </p:txBody>
      </p: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2C1B460D-FF70-BBF5-7344-91F3D68FC408}"/>
              </a:ext>
            </a:extLst>
          </p:cNvPr>
          <p:cNvGrpSpPr/>
          <p:nvPr/>
        </p:nvGrpSpPr>
        <p:grpSpPr>
          <a:xfrm>
            <a:off x="730659" y="4823427"/>
            <a:ext cx="2048797" cy="953729"/>
            <a:chOff x="2633816" y="4964669"/>
            <a:chExt cx="2048797" cy="953729"/>
          </a:xfrm>
        </p:grpSpPr>
        <p:sp>
          <p:nvSpPr>
            <p:cNvPr id="32" name="Wolke 31">
              <a:extLst>
                <a:ext uri="{FF2B5EF4-FFF2-40B4-BE49-F238E27FC236}">
                  <a16:creationId xmlns:a16="http://schemas.microsoft.com/office/drawing/2014/main" id="{1E3D6FDB-28C7-09AE-A657-0FE7ECBC509D}"/>
                </a:ext>
              </a:extLst>
            </p:cNvPr>
            <p:cNvSpPr/>
            <p:nvPr/>
          </p:nvSpPr>
          <p:spPr>
            <a:xfrm>
              <a:off x="2633816" y="4964669"/>
              <a:ext cx="2048797" cy="953729"/>
            </a:xfrm>
            <a:prstGeom prst="clou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sz="1400" dirty="0"/>
            </a:p>
          </p:txBody>
        </p:sp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68F86061-F032-1B0A-085E-D9F966E4DC9D}"/>
                </a:ext>
              </a:extLst>
            </p:cNvPr>
            <p:cNvSpPr txBox="1"/>
            <p:nvPr/>
          </p:nvSpPr>
          <p:spPr>
            <a:xfrm>
              <a:off x="2654429" y="5276182"/>
              <a:ext cx="202818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300" dirty="0"/>
                <a:t>Check </a:t>
              </a:r>
              <a:r>
                <a:rPr lang="de-DE" sz="1300" dirty="0" err="1"/>
                <a:t>if</a:t>
              </a:r>
              <a:r>
                <a:rPr lang="de-DE" sz="1300" dirty="0"/>
                <a:t> </a:t>
              </a:r>
              <a:r>
                <a:rPr lang="de-DE" sz="1300" dirty="0" err="1"/>
                <a:t>pipeline</a:t>
              </a:r>
              <a:r>
                <a:rPr lang="de-DE" sz="1300" dirty="0"/>
                <a:t> </a:t>
              </a:r>
              <a:r>
                <a:rPr lang="de-DE" sz="1300" dirty="0" err="1"/>
                <a:t>is</a:t>
              </a:r>
              <a:r>
                <a:rPr lang="de-DE" sz="1300" dirty="0"/>
                <a:t> </a:t>
              </a:r>
              <a:r>
                <a:rPr lang="de-DE" sz="1300" dirty="0" err="1"/>
                <a:t>working</a:t>
              </a:r>
              <a:endParaRPr lang="de-DE" sz="1300" dirty="0"/>
            </a:p>
          </p:txBody>
        </p:sp>
      </p:grp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159FA58A-6D38-54DC-5517-F84C039450F0}"/>
              </a:ext>
            </a:extLst>
          </p:cNvPr>
          <p:cNvCxnSpPr>
            <a:cxnSpLocks/>
            <a:stCxn id="8" idx="2"/>
            <a:endCxn id="32" idx="3"/>
          </p:cNvCxnSpPr>
          <p:nvPr/>
        </p:nvCxnSpPr>
        <p:spPr>
          <a:xfrm flipH="1">
            <a:off x="1755058" y="4613830"/>
            <a:ext cx="4918" cy="264127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9C5DF4A6-311C-4833-48CB-A14593BC1000}"/>
              </a:ext>
            </a:extLst>
          </p:cNvPr>
          <p:cNvGrpSpPr/>
          <p:nvPr/>
        </p:nvGrpSpPr>
        <p:grpSpPr>
          <a:xfrm>
            <a:off x="2187679" y="2694667"/>
            <a:ext cx="2127478" cy="1196484"/>
            <a:chOff x="6715432" y="2757341"/>
            <a:chExt cx="2127478" cy="1196484"/>
          </a:xfrm>
        </p:grpSpPr>
        <p:sp>
          <p:nvSpPr>
            <p:cNvPr id="28" name="Scrollen: vertikal 27">
              <a:extLst>
                <a:ext uri="{FF2B5EF4-FFF2-40B4-BE49-F238E27FC236}">
                  <a16:creationId xmlns:a16="http://schemas.microsoft.com/office/drawing/2014/main" id="{667E9D84-63CF-E405-8684-ADD8EA7EA277}"/>
                </a:ext>
              </a:extLst>
            </p:cNvPr>
            <p:cNvSpPr/>
            <p:nvPr/>
          </p:nvSpPr>
          <p:spPr>
            <a:xfrm>
              <a:off x="6715432" y="2757341"/>
              <a:ext cx="2127478" cy="1087072"/>
            </a:xfrm>
            <a:prstGeom prst="verticalScroll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de-DE" sz="1400" dirty="0"/>
                <a:t> </a:t>
              </a:r>
            </a:p>
            <a:p>
              <a:r>
                <a:rPr lang="de-DE" sz="1400" dirty="0"/>
                <a:t> </a:t>
              </a:r>
            </a:p>
          </p:txBody>
        </p: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22234B8A-1EDB-C08F-FE26-0D85F6F85001}"/>
                </a:ext>
              </a:extLst>
            </p:cNvPr>
            <p:cNvSpPr txBox="1"/>
            <p:nvPr/>
          </p:nvSpPr>
          <p:spPr>
            <a:xfrm>
              <a:off x="6905949" y="2938162"/>
              <a:ext cx="186749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Parquet </a:t>
              </a:r>
              <a:r>
                <a:rPr lang="de-DE" sz="1200" dirty="0" err="1"/>
                <a:t>is</a:t>
              </a:r>
              <a:r>
                <a:rPr lang="de-DE" sz="1200" dirty="0"/>
                <a:t> </a:t>
              </a:r>
              <a:r>
                <a:rPr lang="de-DE" sz="1200" dirty="0" err="1"/>
                <a:t>existing</a:t>
              </a:r>
              <a:r>
                <a:rPr lang="de-DE" sz="1200" dirty="0"/>
                <a:t> ✅</a:t>
              </a:r>
            </a:p>
            <a:p>
              <a:endParaRPr lang="de-DE" sz="1200" dirty="0"/>
            </a:p>
            <a:p>
              <a:r>
                <a:rPr lang="de-DE" sz="1200" dirty="0"/>
                <a:t>A </a:t>
              </a:r>
              <a:r>
                <a:rPr lang="de-DE" sz="1200" dirty="0" err="1"/>
                <a:t>model</a:t>
              </a:r>
              <a:r>
                <a:rPr lang="de-DE" sz="1200" dirty="0"/>
                <a:t> was </a:t>
              </a:r>
              <a:r>
                <a:rPr lang="de-DE" sz="1200" dirty="0" err="1"/>
                <a:t>trained</a:t>
              </a:r>
              <a:r>
                <a:rPr lang="de-DE" sz="1200" dirty="0"/>
                <a:t> and </a:t>
              </a:r>
            </a:p>
            <a:p>
              <a:r>
                <a:rPr lang="de-DE" sz="1200" dirty="0"/>
                <a:t>registered in </a:t>
              </a:r>
              <a:r>
                <a:rPr lang="de-DE" sz="1200" dirty="0" err="1"/>
                <a:t>mlflow.db</a:t>
              </a:r>
              <a:r>
                <a:rPr lang="de-DE" sz="1200" dirty="0"/>
                <a:t> ✅</a:t>
              </a:r>
            </a:p>
            <a:p>
              <a:endParaRPr lang="de-DE" sz="1200" dirty="0"/>
            </a:p>
          </p:txBody>
        </p:sp>
      </p:grpSp>
      <p:sp>
        <p:nvSpPr>
          <p:cNvPr id="78" name="Freihandform: Form 77">
            <a:extLst>
              <a:ext uri="{FF2B5EF4-FFF2-40B4-BE49-F238E27FC236}">
                <a16:creationId xmlns:a16="http://schemas.microsoft.com/office/drawing/2014/main" id="{DD2C4D52-4F18-F71A-9DB1-A7BAF221ACCB}"/>
              </a:ext>
            </a:extLst>
          </p:cNvPr>
          <p:cNvSpPr/>
          <p:nvPr/>
        </p:nvSpPr>
        <p:spPr>
          <a:xfrm>
            <a:off x="3130348" y="649904"/>
            <a:ext cx="3236040" cy="3705787"/>
          </a:xfrm>
          <a:custGeom>
            <a:avLst/>
            <a:gdLst>
              <a:gd name="csX0" fmla="*/ 0 w 2890684"/>
              <a:gd name="csY0" fmla="*/ 3784445 h 3784445"/>
              <a:gd name="csX1" fmla="*/ 1415845 w 2890684"/>
              <a:gd name="csY1" fmla="*/ 3184677 h 3784445"/>
              <a:gd name="csX2" fmla="*/ 1759974 w 2890684"/>
              <a:gd name="csY2" fmla="*/ 687283 h 3784445"/>
              <a:gd name="csX3" fmla="*/ 2890684 w 2890684"/>
              <a:gd name="csY3" fmla="*/ 8858 h 37844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90684" h="3784445">
                <a:moveTo>
                  <a:pt x="0" y="3784445"/>
                </a:moveTo>
                <a:cubicBezTo>
                  <a:pt x="561258" y="3742658"/>
                  <a:pt x="1122516" y="3700871"/>
                  <a:pt x="1415845" y="3184677"/>
                </a:cubicBezTo>
                <a:cubicBezTo>
                  <a:pt x="1709174" y="2668483"/>
                  <a:pt x="1514168" y="1216586"/>
                  <a:pt x="1759974" y="687283"/>
                </a:cubicBezTo>
                <a:cubicBezTo>
                  <a:pt x="2005781" y="157980"/>
                  <a:pt x="2723535" y="-46858"/>
                  <a:pt x="2890684" y="8858"/>
                </a:cubicBezTo>
              </a:path>
            </a:pathLst>
          </a:custGeom>
          <a:noFill/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Rechteck: abgerundete Ecken 79">
            <a:extLst>
              <a:ext uri="{FF2B5EF4-FFF2-40B4-BE49-F238E27FC236}">
                <a16:creationId xmlns:a16="http://schemas.microsoft.com/office/drawing/2014/main" id="{B2565F1E-AF42-DB55-27BF-E9E4CE3B373F}"/>
              </a:ext>
            </a:extLst>
          </p:cNvPr>
          <p:cNvSpPr/>
          <p:nvPr/>
        </p:nvSpPr>
        <p:spPr>
          <a:xfrm>
            <a:off x="8485239" y="388079"/>
            <a:ext cx="1425677" cy="521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Prometheus</a:t>
            </a:r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D12F9939-90C9-9881-B66F-3874F25D96BB}"/>
              </a:ext>
            </a:extLst>
          </p:cNvPr>
          <p:cNvSpPr/>
          <p:nvPr/>
        </p:nvSpPr>
        <p:spPr>
          <a:xfrm>
            <a:off x="9985886" y="388079"/>
            <a:ext cx="1425677" cy="521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Grafana</a:t>
            </a:r>
            <a:endParaRPr lang="de-DE" dirty="0"/>
          </a:p>
        </p:txBody>
      </p: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E45F1C09-153D-1BBC-5098-815F698D9D56}"/>
              </a:ext>
            </a:extLst>
          </p:cNvPr>
          <p:cNvCxnSpPr>
            <a:cxnSpLocks/>
            <a:stCxn id="30" idx="3"/>
            <a:endCxn id="80" idx="1"/>
          </p:cNvCxnSpPr>
          <p:nvPr/>
        </p:nvCxnSpPr>
        <p:spPr>
          <a:xfrm flipV="1">
            <a:off x="8410269" y="648634"/>
            <a:ext cx="74970" cy="36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B6D7A3DE-1D0E-EAD0-935A-B67655608256}"/>
              </a:ext>
            </a:extLst>
          </p:cNvPr>
          <p:cNvCxnSpPr>
            <a:stCxn id="80" idx="3"/>
            <a:endCxn id="82" idx="1"/>
          </p:cNvCxnSpPr>
          <p:nvPr/>
        </p:nvCxnSpPr>
        <p:spPr>
          <a:xfrm>
            <a:off x="9910916" y="648634"/>
            <a:ext cx="7497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6EBA9B58-3CFE-90F2-B5CD-5C6BFC4A5AF6}"/>
              </a:ext>
            </a:extLst>
          </p:cNvPr>
          <p:cNvSpPr/>
          <p:nvPr/>
        </p:nvSpPr>
        <p:spPr>
          <a:xfrm>
            <a:off x="3130347" y="75952"/>
            <a:ext cx="2043881" cy="521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Start Docker</a:t>
            </a:r>
          </a:p>
        </p:txBody>
      </p:sp>
    </p:spTree>
    <p:extLst>
      <p:ext uri="{BB962C8B-B14F-4D97-AF65-F5344CB8AC3E}">
        <p14:creationId xmlns:p14="http://schemas.microsoft.com/office/powerpoint/2010/main" val="153535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Breitbild</PresentationFormat>
  <Paragraphs>17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M.</dc:creator>
  <cp:lastModifiedBy>Markus M.</cp:lastModifiedBy>
  <cp:revision>8</cp:revision>
  <dcterms:created xsi:type="dcterms:W3CDTF">2026-10-11T12:23:27Z</dcterms:created>
  <dcterms:modified xsi:type="dcterms:W3CDTF">2026-10-12T15:44:18Z</dcterms:modified>
</cp:coreProperties>
</file>